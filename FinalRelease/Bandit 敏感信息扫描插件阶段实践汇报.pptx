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9" r:id="rId14"/>
    <p:sldId id="265" r:id="rId15"/>
    <p:sldId id="266" r:id="rId16"/>
    <p:sldId id="267" r:id="rId17"/>
  </p:sldIdLst>
  <p:sldSz cx="9144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大家好，我们是NoIdeaTeam。今天非常荣幸能在这里向大家汇报我们的项目——Bandit敏感信息扫描插件。本次汇报将围绕我们在安全代码检测方面的实践展开，希望能为大家带来一些有价值的参考。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本次汇报将分为五个部分。首先，我们会介绍项目的背景与目标；接着，深入解析我们的技术架构设计；然后，详细展示插件的核心功能模块；之后，分享我们的测试结果；最后，对项目进行总结并分享亮点。</a:t>
            </a:r>
            <a:endParaRPr lang="en-US" sz="12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在软件开发过程中，硬编码密码、使用弱加密算法等问题是非常普遍的安全隐患，这些问题一旦被忽视，可能会导致严重的数据泄露。因此，我们认为有必要开发一款自动化工具来有效发现这些潜在风险。基于此，我们设定了项目目标：开发一个Bandit插件，专门用于扩展敏感数据的检测能力，重点覆盖硬编码密码和弱加密算法等场景，并致力于提供低误报率的精准检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插件的技术架构图。整个架构基于Bandit框架层，我们在其上实现了从SC100到SC203的自定义检测规则。这些规则主要分为两大模块：hardcoded模块负责检测硬编码信息，包含变量赋值、字典和函数参数三种检测场景；crypto模块负责检测加密合规性，涵盖了弱哈希、弱加密算法、不安全模式和弱密钥长度等检测项。此外，我们还开发了utils工具层，提供常量定义和过滤函数，以支持核心检测逻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清晰地展示我们的检测能力，这里列出了规则ID与功能的详细映射。我们总共实现了7条自定义规则，优先级均为高。其中，SC100到SC102系列专注于硬编码信息的检测，而SC200到SC203系列则专注于加密相关的安全合规性检测。每条规则都针对一个具体的安全风险点，确保了检测的精准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接下来我们看核心功能的第一部分：硬编码检测。我们主要从三个场景入手。首先是变量赋值检测，能够识别出像“password = 'secret123'”这样直接写在代码里的密码。其次是字典键值检测，用于发现配置字典中可能存在的敏感信息。最后是函数参数检测，它能检测在调用数据库连接或API时，是否将凭证直接作为参数传入。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功能的第二部分是加密合规检测。我们同样从四个方面进行检测。首先是弱哈希算法，如MD5和SHA1。其次是弱加密算法，如DES和RC4。第三是不安全的加密模式，特别是ECB模式。最后，我们还会检测RSA密钥长度是否小于2048位，因为这被认为是不安全的。这些检测覆盖了加密领域最常见的几个安全风险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方面，我们取得了不错的成果。所有11个单元测试和4个集成测试都已全部通过，并且完成了必要的边界值测试。从性能指标来看，插件的扫描速度达到了每秒124.3行，能够满足CI/CD流程的需求。在测试样本中，我们成功检测出了24个安全问题。目前代码覆盖率为74%，虽然达到了可用标准，但距离我们90%以上的目标还有提升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测试方面，我们取得了不错的成果。所有11个单元测试和4个集成测试都已全部通过，并且完成了必要的边界值测试。从性能指标来看，插件的扫描速度达到了每秒124.3行，能够满足CI/CD流程的需求。在测试样本中，我们成功检测出了24个安全问题。目前代码覆盖率为74%，虽然达到了可用标准，但距离我们90%以上的目标还有提升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我们项目的亮点。在技术层面，我们采用了插件化设计，实现了与Bandit框架的无缝集成；通过智能过滤机制，保证了低误报率；7条规则全面覆盖了主要的敏感信息场景；同时，124行/秒的高性能也满足了CI/CD的需求。在团队协作方面，我们分工明确，沟通高效，确保了高质量的代码和全面的测试覆盖。</a:t>
            </a:r>
            <a:br>
              <a:rPr lang="en-US" sz="1400" b="0" i="0" u="none" strike="noStrike">
                <a:solidFill>
                  <a:srgbClr val="000000"/>
                </a:solidFill>
              </a:rPr>
            </a:br>
            <a:r>
              <a:rPr lang="en-US" altLang="zh-CN" sz="1400" b="0" i="0" u="none" strike="noStrike">
                <a:solidFill>
                  <a:srgbClr val="000000"/>
                </a:solidFill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检测到潜在敏感数据                   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      │            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      ▼            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┌─────────────────┐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│ ① #nosec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过滤   │ ← 检查行是否被 #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nosec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注释忽略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└────────┬────────┘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         │ 通过                     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         ▼         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┌─────────────────┐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│ ② 常见常量过滤  │ ←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localhost, test, default...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└────────┬────────┘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         │ 通过                     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         ▼         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┌─────────────────┐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│ ③ 短字符串过滤  │ ← 长度 &lt; 6 字符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└────────┬────────┘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         │ 通过                     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         ▼         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┌─────────────────┐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│ ④ 关键词过滤    │ ← 变量名必须包含敏感词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└────────┬────────┘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         │ 通过                     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         ▼         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┌─────────────────┐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│ ⑤ 模式过滤      │ ←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URL、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邮箱、纯数字等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└────────┬────────┘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         │ 通过                     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│           ▼                                                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│       生成告警                                              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。我们成功完成了7条自定义检测规则的开发，并编写了完整的测试用例。插件已成功注册并集成到Bandit中，性能测试也达到了预期标准。我们认为当前版本已经具备发布条件。对于未来，我们计划继续迭代，重点是将测试覆盖率提升到90%以上，以进一步增强插件的稳定性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660900"/>
            <a:ext cx="9156700" cy="12700"/>
          </a:xfrm>
          <a:prstGeom prst="rtTriangle">
            <a:avLst/>
          </a:prstGeom>
          <a:gradFill rotWithShape="1">
            <a:gsLst>
              <a:gs pos="0">
                <a:srgbClr val="00728E">
                  <a:alpha val="100000"/>
                </a:srgbClr>
              </a:gs>
              <a:gs pos="55000">
                <a:srgbClr val="4ABBE0">
                  <a:alpha val="100000"/>
                </a:srgbClr>
              </a:gs>
              <a:gs pos="100000">
                <a:srgbClr val="00728E">
                  <a:alpha val="10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689100" y="4953000"/>
            <a:ext cx="7456488" cy="488154"/>
          </a:xfrm>
          <a:custGeom>
            <a:avLst/>
            <a:gdLst/>
            <a:ahLst/>
            <a:cxnLst/>
            <a:rect l="l" t="t" r="r" b="b"/>
            <a:pathLst>
              <a:path w="7456488" h="488154">
                <a:moveTo>
                  <a:pt x="7456488" y="0"/>
                </a:moveTo>
                <a:lnTo>
                  <a:pt x="7456488" y="488154"/>
                </a:lnTo>
                <a:lnTo>
                  <a:pt x="0" y="289966"/>
                </a:lnTo>
                <a:lnTo>
                  <a:pt x="7456488" y="0"/>
                </a:lnTo>
                <a:close/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8100" y="5232400"/>
            <a:ext cx="9108557" cy="788662"/>
          </a:xfrm>
          <a:custGeom>
            <a:avLst/>
            <a:gdLst/>
            <a:ahLst/>
            <a:cxnLst/>
            <a:rect l="l" t="t" r="r" b="b"/>
            <a:pathLst>
              <a:path w="9108557" h="788662">
                <a:moveTo>
                  <a:pt x="0" y="0"/>
                </a:moveTo>
                <a:lnTo>
                  <a:pt x="9108557" y="0"/>
                </a:lnTo>
                <a:lnTo>
                  <a:pt x="9108557" y="788662"/>
                </a:lnTo>
                <a:lnTo>
                  <a:pt x="75904" y="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499" b="499"/>
          <a:stretch>
            <a:fillRect/>
          </a:stretch>
        </p:blipFill>
        <p:spPr>
          <a:xfrm>
            <a:off x="0" y="5003800"/>
            <a:ext cx="9144000" cy="1866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290542">
            <a:off x="-16915" y="5391150"/>
            <a:ext cx="917783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" y="1143000"/>
            <a:ext cx="7772400" cy="1905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0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安全代码检测实践汇报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4200" b="1" i="0" u="none" strike="noStrike">
                <a:solidFill>
                  <a:srgbClr val="C00000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Bandit 敏感信息扫描插件</a:t>
            </a:r>
            <a:endParaRPr lang="en-US" sz="4200" b="1" i="0" u="none" strike="noStrike">
              <a:solidFill>
                <a:srgbClr val="C00000"/>
              </a:solidFill>
              <a:effectLst>
                <a:outerShdw blurRad="38100" dist="25400" dir="5400000" algn="tl" rotWithShape="0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587500" y="3429000"/>
            <a:ext cx="6121400" cy="165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50800" tIns="76200" rIns="50800" bIns="7620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24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团队：NoIdeaTeam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24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日期：2026年5月19</a:t>
            </a:r>
            <a:r>
              <a:rPr lang="zh-CN" altLang="en-US" sz="24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日</a:t>
            </a:r>
            <a:endParaRPr lang="zh-CN" altLang="en-US" sz="2400" b="1" i="0" u="none" strike="noStrike">
              <a:solidFill>
                <a:srgbClr val="0D0D0D"/>
              </a:solidFill>
              <a:effectLst>
                <a:outerShdw blurRad="38100" dist="25400" dir="5400000" algn="tl" rotWithShape="0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457200" indent="-342900"/>
            <a:lvl2pPr marL="914400" indent="-342900"/>
            <a:lvl3pPr marL="1371600" indent="-342900"/>
            <a:lvl4pPr marL="1828800" indent="-342900"/>
            <a:lvl5pPr marL="2286000" indent="-342900"/>
            <a:lvl6pPr marL="2743200" indent="-342900"/>
            <a:lvl7pPr marL="3200400" indent="-342900"/>
            <a:lvl8pPr marL="3657600" indent="-342900"/>
            <a:lvl9pPr marL="4114800" indent="-342900"/>
          </a:lstStyle>
          <a:p>
            <a:pPr marL="457200" indent="-342900" algn="l">
              <a:lnSpc>
                <a:spcPct val="108000"/>
              </a:lnSpc>
              <a:spcBef>
                <a:spcPts val="1600"/>
              </a:spcBef>
              <a:buClr>
                <a:srgbClr val="0D0D0D"/>
              </a:buClr>
              <a:buChar char="•"/>
              <a:defRPr/>
            </a:pPr>
            <a:r>
              <a:rPr lang="en-US" sz="27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项目背景与目标</a:t>
            </a:r>
            <a:endParaRPr lang="en-US" sz="1100"/>
          </a:p>
          <a:p>
            <a:pPr marL="457200" indent="-342900" algn="l">
              <a:lnSpc>
                <a:spcPct val="108000"/>
              </a:lnSpc>
              <a:spcBef>
                <a:spcPts val="16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技术架构设计</a:t>
            </a:r>
            <a:endParaRPr lang="en-US" sz="2700" b="1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indent="-342900" algn="l">
              <a:lnSpc>
                <a:spcPct val="108000"/>
              </a:lnSpc>
              <a:spcBef>
                <a:spcPts val="16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核心功能模块</a:t>
            </a:r>
            <a:endParaRPr lang="en-US" sz="2700" b="1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indent="-342900" algn="l">
              <a:lnSpc>
                <a:spcPct val="108000"/>
              </a:lnSpc>
              <a:spcBef>
                <a:spcPts val="16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测试结果展示</a:t>
            </a:r>
            <a:endParaRPr lang="en-US" sz="2700" b="1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57200" indent="-342900" algn="l">
              <a:lnSpc>
                <a:spcPct val="108000"/>
              </a:lnSpc>
              <a:spcBef>
                <a:spcPts val="1600"/>
              </a:spcBef>
              <a:buClr>
                <a:srgbClr val="0D0D0D"/>
              </a:buClr>
              <a:buChar char="•"/>
            </a:pPr>
            <a:r>
              <a:rPr lang="en-US" sz="27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项目亮点与总结</a:t>
            </a:r>
            <a:endParaRPr lang="en-US" sz="2700" b="1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汇报内容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355600" indent="-355600" algn="l">
              <a:lnSpc>
                <a:spcPct val="108000"/>
              </a:lnSpc>
              <a:spcBef>
                <a:spcPts val="1000"/>
              </a:spcBef>
              <a:buClr>
                <a:srgbClr val="156D83"/>
              </a:buClr>
              <a:buChar char="•"/>
              <a:defRPr/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▍项目背景</a:t>
            </a:r>
            <a:endParaRPr lang="en-US" sz="1100"/>
          </a:p>
          <a:p>
            <a:pPr marL="685800" lvl="1" indent="-228600" algn="l">
              <a:lnSpc>
                <a:spcPct val="117000"/>
              </a:lnSpc>
              <a:spcBef>
                <a:spcPts val="800"/>
              </a:spcBef>
              <a:buClr>
                <a:srgbClr val="333333"/>
              </a:buClr>
              <a:buChar char="○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代码中硬编码密码、弱加密算法等敏感信息是开发过程中常见的安全隐患，易导致数据泄露风险。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Bef>
                <a:spcPts val="600"/>
              </a:spcBef>
              <a:buClr>
                <a:srgbClr val="333333"/>
              </a:buClr>
              <a:buChar char="○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传统人工排查效率低，自动化的代码安全检测工具可有效、快速发现此类潜在风险。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355600" indent="-355600" algn="l">
              <a:lnSpc>
                <a:spcPct val="108000"/>
              </a:lnSpc>
              <a:spcBef>
                <a:spcPts val="2500"/>
              </a:spcBef>
              <a:buClr>
                <a:srgbClr val="156D83"/>
              </a:buClr>
              <a:buChar char="•"/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▍建设目标</a:t>
            </a:r>
            <a:endParaRPr lang="en-US" sz="2800" b="1" i="0" u="none" strike="noStrike">
              <a:solidFill>
                <a:srgbClr val="156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Bef>
                <a:spcPts val="800"/>
              </a:spcBef>
              <a:buClr>
                <a:srgbClr val="333333"/>
              </a:buClr>
              <a:buChar char="○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开发适配 Bandit 的专用检测插件，扩展其对敏感数据的识别与检测能力。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Bef>
                <a:spcPts val="600"/>
              </a:spcBef>
              <a:buClr>
                <a:srgbClr val="333333"/>
              </a:buClr>
              <a:buChar char="○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重点覆盖“硬编码密码”、“弱加密算法使用”等高频高危安全问题场景。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lvl="1" indent="-228600" algn="l">
              <a:lnSpc>
                <a:spcPct val="117000"/>
              </a:lnSpc>
              <a:spcBef>
                <a:spcPts val="600"/>
              </a:spcBef>
              <a:buClr>
                <a:srgbClr val="333333"/>
              </a:buClr>
              <a:buChar char="○"/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优化检测规则逻辑，降低误报率，为开发团队提供高精准度的代码安全检测服务。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项目背景与目标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8" descr="组件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0960" y="441960"/>
            <a:ext cx="4782185" cy="5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2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254000" tIns="190500" rIns="254000" bIns="190500" rtlCol="0" anchor="ctr" anchorCtr="0"/>
          <a:lstStyle/>
          <a:p>
            <a:pPr indent="0" algn="ctr">
              <a:lnSpc>
                <a:spcPct val="117000"/>
              </a:lnSpc>
              <a:defRPr/>
            </a:pPr>
            <a:endParaRPr lang="en-US" sz="1600" b="0" i="0" u="none" strike="noStrike">
              <a:solidFill>
                <a:srgbClr val="111827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1" name="AutoShape 7"/>
          <p:cNvSpPr/>
          <p:nvPr/>
        </p:nvSpPr>
        <p:spPr>
          <a:xfrm>
            <a:off x="495300" y="612775"/>
            <a:ext cx="3211195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模块划分</a:t>
            </a:r>
            <a:r>
              <a:rPr lang="zh-CN" alt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</a:t>
            </a:r>
            <a:endParaRPr lang="zh-CN" altLang="en-US" sz="4100" b="1" i="0" u="none" strike="noStrike">
              <a:solidFill>
                <a:srgbClr val="0D0D0D"/>
              </a:solidFill>
              <a:effectLst>
                <a:outerShdw blurRad="38100" dist="25400" dir="5400000" algn="tl" rotWithShape="0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228600" indent="-228600" algn="l">
              <a:lnSpc>
                <a:spcPct val="117000"/>
              </a:lnSpc>
              <a:buClr>
                <a:srgbClr val="2563EB"/>
              </a:buClr>
              <a:buChar char="•"/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SC100：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变量赋值硬编码密码检测</a:t>
            </a:r>
            <a:endParaRPr lang="en-US" sz="1100"/>
          </a:p>
          <a:p>
            <a:pPr marL="228600" indent="-228600" algn="l">
              <a:lnSpc>
                <a:spcPct val="117000"/>
              </a:lnSpc>
              <a:buClr>
                <a:srgbClr val="2563EB"/>
              </a:buClr>
              <a:buChar char="•"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SC101：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字典键值敏感信息检测</a:t>
            </a:r>
            <a:endParaRPr lang="en-US" sz="1600" b="1" i="0" u="none" strike="noStrike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2563EB"/>
              </a:buClr>
              <a:buChar char="•"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SC102：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函数调用参数凭证检测</a:t>
            </a:r>
            <a:endParaRPr lang="en-US" sz="1600" b="1" i="0" u="none" strike="noStrike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2563EB"/>
              </a:buClr>
              <a:buChar char="•"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SC200：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MD5/SHA1 弱哈希算法检测</a:t>
            </a:r>
            <a:endParaRPr lang="en-US" sz="1600" b="1" i="0" u="none" strike="noStrike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2563EB"/>
              </a:buClr>
              <a:buChar char="•"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SC201：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DES/RC4 弱加密算法检测</a:t>
            </a:r>
            <a:endParaRPr lang="en-US" sz="1600" b="1" i="0" u="none" strike="noStrike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2563EB"/>
              </a:buClr>
              <a:buChar char="•"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SC202：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ECB 不安全加密模式检测</a:t>
            </a:r>
            <a:endParaRPr lang="en-US" sz="1600" b="1" i="0" u="none" strike="noStrike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2563EB"/>
              </a:buClr>
              <a:buChar char="•"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SC203：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RSA 密钥长度不足检测</a:t>
            </a:r>
            <a:endParaRPr lang="en-US" sz="1600" b="1" i="0" u="none" strike="noStrike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394700" y="6413500"/>
            <a:ext cx="6223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r">
              <a:lnSpc>
                <a:spcPct val="100000"/>
              </a:lnSpc>
              <a:defRPr/>
            </a:pPr>
            <a:r>
              <a:rPr lang="en-US" sz="10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规则ID与功能映射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核心功能 - 硬编码检测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" y="1651000"/>
            <a:ext cx="8229600" cy="406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127000" rIns="88900" bIns="127000" rtlCol="0" anchor="t" anchorCtr="0"/>
          <a:lstStyle/>
          <a:p>
            <a:pPr indent="0" algn="l">
              <a:lnSpc>
                <a:spcPct val="108000"/>
              </a:lnSpc>
              <a:spcBef>
                <a:spcPts val="1000"/>
              </a:spcBef>
              <a:defRPr/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变量赋值检测 (SC100)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识别形如</a:t>
            </a:r>
            <a:r>
              <a:rPr lang="en-US" sz="1800" b="1" i="0" u="none" strike="noStrike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password = "secret123"</a:t>
            </a: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这类直接在代码中写死的静态密码、密钥或令牌。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2500"/>
              </a:spcBef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字典键值检测 (SC101)</a:t>
            </a:r>
            <a:endParaRPr lang="en-US" sz="2800" b="1" i="0" u="none" strike="noStrike">
              <a:solidFill>
                <a:srgbClr val="156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智能扫描代码中的配置字典、映射表（Dict/Map），精准发现存储其中的敏感配置信息。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2500"/>
              </a:spcBef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03. 函数参数检测 (SC102)</a:t>
            </a:r>
            <a:endParaRPr lang="en-US" sz="2800" b="1" i="0" u="none" strike="noStrike">
              <a:solidFill>
                <a:srgbClr val="156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自动识别数据库连接、第三方API调用等关键函数调用场景，检测是否将敏感凭证直接作为参数硬编码传入。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19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127000" rIns="88900" bIns="0" rtlCol="0" anchor="t" anchorCtr="0"/>
          <a:lstStyle/>
          <a:p>
            <a:pPr indent="0" algn="l">
              <a:lnSpc>
                <a:spcPct val="117000"/>
              </a:lnSpc>
              <a:spcBef>
                <a:spcPts val="1000"/>
              </a:spcBef>
              <a:defRPr/>
            </a:pPr>
            <a:r>
              <a:rPr lang="en-US" sz="24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弱哈希算法 (SC200)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精准识别 MD5、SHA1 等已被证实易受碰撞攻击的不安全哈希算法，规避数据指纹伪造风险。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2000"/>
              </a:spcBef>
            </a:pPr>
            <a:r>
              <a:rPr lang="en-US" sz="24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弱加密算法 (SC201)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扫描代码中使用的 DES、RC4、3DES 等已被业界淘汰的加密算法，防止敏感信息被快速破解。</a:t>
            </a:r>
            <a:endParaRPr lang="en-US" sz="18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2000"/>
              </a:spcBef>
            </a:pPr>
            <a:r>
              <a:rPr lang="en-US" sz="24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不安全模式 (SC202)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检测使用 ECB 模式等不具备语义安全性的加密模式，避免因模式漏洞导致明文特征泄露。</a:t>
            </a:r>
            <a:endParaRPr lang="en-US" sz="18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2000"/>
              </a:spcBef>
            </a:pPr>
            <a:r>
              <a:rPr lang="en-US" sz="24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弱密钥长度 (SC203)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800" b="0" i="0" u="none" strike="noStrike">
                <a:solidFill>
                  <a:srgbClr val="50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自动校验 RSA 密钥长度是否小于 2048 位，确保非对称加密具备足够的抗暴力破解能力。</a:t>
            </a:r>
            <a:endParaRPr lang="en-US" sz="1800" b="0" i="0" u="none" strike="noStrike">
              <a:solidFill>
                <a:srgbClr val="505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核心功能 - 加密合规检测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测试结果概览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" y="1524000"/>
            <a:ext cx="8229600" cy="419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/ 测试覆盖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单元测试 ：7/7 通过</a:t>
            </a:r>
            <a:endParaRPr lang="en-US" altLang="zh-CN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覆盖 </a:t>
            </a:r>
            <a:r>
              <a:rPr lang="en-US" altLang="zh-CN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SC100-SC203 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全部规则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验证核心检测逻辑正确性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集成测试 ：4/4 通过</a:t>
            </a:r>
            <a:endParaRPr lang="en-US" altLang="zh-CN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插件加载正常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规则注册成功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报告格式兼容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边界值测试 ：12/12 通过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极端输入验证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异常场景覆盖</a:t>
            </a:r>
            <a:endParaRPr lang="zh-CN" alt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 误报控制有效</a:t>
            </a:r>
            <a:b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829435"/>
            <a:ext cx="4886960" cy="4558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测试结果概览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" y="1524000"/>
            <a:ext cx="8229600" cy="4191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ts val="3000"/>
              </a:spcBef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/ 关键性能指标</a:t>
            </a:r>
            <a:endParaRPr lang="en-US" sz="2800" b="1" i="0" u="none" strike="noStrike">
              <a:solidFill>
                <a:srgbClr val="156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⚡ 扫描速度：稳定达到</a:t>
            </a:r>
            <a:r>
              <a:rPr lang="zh-CN" altLang="en-US" sz="18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数百行</a:t>
            </a:r>
            <a:r>
              <a:rPr lang="en-US" altLang="zh-CN" sz="18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800" b="0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秒</a:t>
            </a: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🔍 样本检测：成功识别出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样本文件中</a:t>
            </a:r>
            <a:r>
              <a:rPr lang="en-US" sz="1800" b="1" i="0" u="none" strike="noStrike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24个</a:t>
            </a:r>
            <a: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潜在安全漏洞</a:t>
            </a:r>
            <a:br>
              <a:rPr lang="en-US" sz="18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endParaRPr lang="en-US" sz="1800" b="0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3429000"/>
            <a:ext cx="3660775" cy="17926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070" y="3475355"/>
            <a:ext cx="5325745" cy="1700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1485900"/>
            <a:ext cx="8229600" cy="4521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17000"/>
              </a:lnSpc>
              <a:spcBef>
                <a:spcPct val="0"/>
              </a:spcBef>
              <a:spcAft>
                <a:spcPts val="1500"/>
              </a:spcAft>
              <a:defRPr/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▍技术亮点</a:t>
            </a:r>
            <a:endParaRPr lang="en-US" sz="1100"/>
          </a:p>
          <a:p>
            <a:pPr marL="254000"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插件化设计：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无缝集成 Bandit 框架，兼容现有生态</a:t>
            </a:r>
            <a:endParaRPr lang="en-US" sz="1600" b="0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低误报率：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引入</a:t>
            </a:r>
            <a:r>
              <a:rPr lang="zh-CN" alt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 层过滤 ：</a:t>
            </a:r>
            <a:r>
              <a:rPr lang="en-US" altLang="zh-CN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nosec → </a:t>
            </a:r>
            <a:r>
              <a:rPr lang="zh-CN" alt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常量 → 长度 → 关键词 → 模式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过滤机制，大幅减少无效告警</a:t>
            </a:r>
            <a:endParaRPr lang="en-US" sz="1600" b="0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全面覆盖：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内置7条核心检测规则，覆盖密钥、Token等主流敏感信息泄露场景</a:t>
            </a:r>
            <a:endParaRPr lang="en-US" sz="1600" b="0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高性能扫描：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扫描速度达 </a:t>
            </a:r>
            <a:r>
              <a:rPr lang="zh-CN" alt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数百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行/秒</a:t>
            </a:r>
            <a:endParaRPr lang="en-US" sz="1600" b="0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0" algn="l">
              <a:lnSpc>
                <a:spcPct val="117000"/>
              </a:lnSpc>
              <a:spcBef>
                <a:spcPts val="500"/>
              </a:spcBef>
            </a:pPr>
            <a:r>
              <a:rPr lang="en-US" sz="28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▍团队协作</a:t>
            </a:r>
            <a:endParaRPr lang="en-US" sz="2800" b="1" i="0" u="none" strike="noStrike">
              <a:solidFill>
                <a:srgbClr val="156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高效协同：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明确开发、测试与产品的职责分工，建立快速沟通与反馈闭环</a:t>
            </a:r>
            <a:endParaRPr lang="en-US" sz="1600" b="0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● 质量保障：</a:t>
            </a:r>
            <a:r>
              <a:rPr lang="en-US" sz="1600" b="0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严格执行代码审查标准，实现核心功能，确保交付质量</a:t>
            </a:r>
            <a:endParaRPr lang="en-US" sz="1600" b="0" i="0" u="none" strike="noStrike">
              <a:solidFill>
                <a:srgbClr val="0D0D0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394700" y="6413500"/>
            <a:ext cx="622300" cy="3683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algn="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项目亮点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5300" y="5943600"/>
            <a:ext cx="4940624" cy="921076"/>
          </a:xfrm>
          <a:custGeom>
            <a:avLst/>
            <a:gdLst/>
            <a:ahLst/>
            <a:cxnLst/>
            <a:rect l="l" t="t" r="r" b="b"/>
            <a:pathLst>
              <a:path w="4940624" h="921076">
                <a:moveTo>
                  <a:pt x="0" y="5466"/>
                </a:moveTo>
                <a:lnTo>
                  <a:pt x="4940624" y="921076"/>
                </a:lnTo>
                <a:lnTo>
                  <a:pt x="3668669" y="921076"/>
                </a:lnTo>
                <a:lnTo>
                  <a:pt x="660" y="0"/>
                </a:lnTo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482600" y="5943600"/>
            <a:ext cx="3690451" cy="933450"/>
          </a:xfrm>
          <a:custGeom>
            <a:avLst/>
            <a:gdLst/>
            <a:ahLst/>
            <a:cxnLst/>
            <a:rect l="l" t="t" r="r" b="b"/>
            <a:pathLst>
              <a:path w="3690451" h="933450">
                <a:moveTo>
                  <a:pt x="0" y="0"/>
                </a:moveTo>
                <a:lnTo>
                  <a:pt x="3690451" y="928688"/>
                </a:lnTo>
                <a:lnTo>
                  <a:pt x="2914209" y="933450"/>
                </a:lnTo>
                <a:lnTo>
                  <a:pt x="7921" y="635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5791200"/>
            <a:ext cx="3403600" cy="1079500"/>
          </a:xfrm>
          <a:prstGeom prst="rtTriangle">
            <a:avLst/>
          </a:prstGeom>
          <a:blipFill rotWithShape="1">
            <a:blip r:embed="rId1">
              <a:alphaModFix amt="50000"/>
            </a:blip>
            <a:tile tx="0" ty="0" sx="50000" sy="50000" flip="none" algn="t"/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5" name="Connector 5"/>
          <p:cNvCxnSpPr/>
          <p:nvPr/>
        </p:nvCxnSpPr>
        <p:spPr>
          <a:xfrm rot="1043602">
            <a:off x="-96233" y="6324603"/>
            <a:ext cx="357068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57200" y="279400"/>
            <a:ext cx="8229600" cy="1143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100" b="1" i="0" u="none" strike="noStrike">
                <a:solidFill>
                  <a:srgbClr val="0D0D0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总结与展望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" y="1651000"/>
            <a:ext cx="8229600" cy="4064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spcBef>
                <a:spcPct val="0"/>
              </a:spcBef>
              <a:spcAft>
                <a:spcPts val="2000"/>
              </a:spcAft>
              <a:defRPr/>
            </a:pPr>
            <a:r>
              <a:rPr lang="en-US" sz="26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▌ 项目完成情况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成功开发完成 7 条自定义安全检测规则，满足核心业务场景需求</a:t>
            </a:r>
            <a:endParaRPr lang="en-US" sz="1800" b="0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实现完整测试用例覆盖，保障功能正确性</a:t>
            </a:r>
            <a:endParaRPr lang="en-US" sz="1800" b="0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插件已成功注册并集成至 Bandit 扫描工具链，实现无缝对接</a:t>
            </a:r>
            <a:endParaRPr lang="en-US" sz="1800" b="0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Aft>
                <a:spcPts val="3000"/>
              </a:spcAft>
            </a:pP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✅ 完成插件性能专项测试，各项指标均达到预期标准</a:t>
            </a:r>
            <a:endParaRPr lang="en-US" sz="1800" b="0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  <a:spcBef>
                <a:spcPct val="0"/>
              </a:spcBef>
            </a:pPr>
            <a:r>
              <a:rPr lang="en-US" sz="2600" b="1" i="0" u="none" strike="noStrike">
                <a:solidFill>
                  <a:srgbClr val="156D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▌ 版本发布与未来规划</a:t>
            </a:r>
            <a:endParaRPr lang="en-US" sz="2600" b="1" i="0" u="none" strike="noStrike">
              <a:solidFill>
                <a:srgbClr val="156D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🚀</a:t>
            </a:r>
            <a:r>
              <a:rPr lang="en-US" sz="18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当前建议：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本版本功能完整、稳定性达标</a:t>
            </a:r>
            <a:endParaRPr lang="en-US" sz="1800" b="0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🎯</a:t>
            </a:r>
            <a:r>
              <a:rPr lang="en-US" sz="1800" b="1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后续迭代：</a:t>
            </a:r>
            <a:r>
              <a:rPr lang="en-US" sz="1800" b="0" i="0" u="none" strike="noStrik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持续优化规则库，计划将插件整体测试覆盖率提升至 90% 以上，进一步增强稳定性</a:t>
            </a:r>
            <a:endParaRPr lang="en-US" sz="1800" b="0" i="0" u="none" strike="noStrike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660900"/>
            <a:ext cx="9156700" cy="12700"/>
          </a:xfrm>
          <a:prstGeom prst="rtTriangle">
            <a:avLst/>
          </a:prstGeom>
          <a:gradFill rotWithShape="1">
            <a:gsLst>
              <a:gs pos="0">
                <a:srgbClr val="00728E">
                  <a:alpha val="100000"/>
                </a:srgbClr>
              </a:gs>
              <a:gs pos="55000">
                <a:srgbClr val="4ABBE0">
                  <a:alpha val="100000"/>
                </a:srgbClr>
              </a:gs>
              <a:gs pos="100000">
                <a:srgbClr val="00728E">
                  <a:alpha val="100000"/>
                </a:srgbClr>
              </a:gs>
            </a:gsLst>
            <a:lin ang="30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1689100" y="4953000"/>
            <a:ext cx="7456488" cy="488154"/>
          </a:xfrm>
          <a:custGeom>
            <a:avLst/>
            <a:gdLst/>
            <a:ahLst/>
            <a:cxnLst/>
            <a:rect l="l" t="t" r="r" b="b"/>
            <a:pathLst>
              <a:path w="7456488" h="488154">
                <a:moveTo>
                  <a:pt x="7456488" y="0"/>
                </a:moveTo>
                <a:lnTo>
                  <a:pt x="7456488" y="488154"/>
                </a:lnTo>
                <a:lnTo>
                  <a:pt x="0" y="289966"/>
                </a:lnTo>
                <a:lnTo>
                  <a:pt x="7456488" y="0"/>
                </a:lnTo>
                <a:close/>
              </a:path>
            </a:pathLst>
          </a:custGeom>
          <a:solidFill>
            <a:srgbClr val="9FCBDC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8100" y="5232400"/>
            <a:ext cx="9108557" cy="788662"/>
          </a:xfrm>
          <a:custGeom>
            <a:avLst/>
            <a:gdLst/>
            <a:ahLst/>
            <a:cxnLst/>
            <a:rect l="l" t="t" r="r" b="b"/>
            <a:pathLst>
              <a:path w="9108557" h="788662">
                <a:moveTo>
                  <a:pt x="0" y="0"/>
                </a:moveTo>
                <a:lnTo>
                  <a:pt x="9108557" y="0"/>
                </a:lnTo>
                <a:lnTo>
                  <a:pt x="9108557" y="788662"/>
                </a:lnTo>
                <a:lnTo>
                  <a:pt x="75904" y="0"/>
                </a:lnTo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499" b="499"/>
          <a:stretch>
            <a:fillRect/>
          </a:stretch>
        </p:blipFill>
        <p:spPr>
          <a:xfrm>
            <a:off x="0" y="5003800"/>
            <a:ext cx="9144000" cy="1866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290542">
            <a:off x="-16915" y="5391150"/>
            <a:ext cx="917783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15000">
                  <a:srgbClr val="156D83">
                    <a:alpha val="100000"/>
                  </a:srgbClr>
                </a:gs>
                <a:gs pos="45000">
                  <a:srgbClr val="96C5D8">
                    <a:alpha val="100000"/>
                  </a:srgbClr>
                </a:gs>
              </a:gsLst>
              <a:lin ang="5400000"/>
            </a:gra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" y="1651000"/>
            <a:ext cx="7924800" cy="203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C00000"/>
                </a:solidFill>
                <a:effectLst>
                  <a:outerShdw blurRad="63500" dist="381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谢谢观看！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30300" y="3810000"/>
            <a:ext cx="6883400" cy="1778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3200" b="1" i="0" u="none" strike="noStrike">
                <a:solidFill>
                  <a:srgbClr val="0D0D0D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WATCHING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2000"/>
              </a:spcBef>
            </a:pPr>
            <a:r>
              <a:rPr lang="en-US" sz="2000" b="1" i="0" u="none" strike="noStrike">
                <a:solidFill>
                  <a:srgbClr val="525252"/>
                </a:solidFill>
                <a:effectLst>
                  <a:outerShdw blurRad="3810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感谢您的聆听与指导</a:t>
            </a:r>
            <a:endParaRPr lang="en-US" sz="2000" b="1" i="0" u="none" strike="noStrike">
              <a:solidFill>
                <a:srgbClr val="525252"/>
              </a:solidFill>
              <a:effectLst>
                <a:outerShdw blurRad="38100" dist="25400" dir="5400000" algn="tl" rotWithShape="0">
                  <a:srgbClr val="000000">
                    <a:alpha val="2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1564</Words>
  <Application>WPS 演示</Application>
  <PresentationFormat/>
  <Paragraphs>104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Times New Roman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。。。</cp:lastModifiedBy>
  <cp:revision>12</cp:revision>
  <dcterms:created xsi:type="dcterms:W3CDTF">2026-05-18T06:48:00Z</dcterms:created>
  <dcterms:modified xsi:type="dcterms:W3CDTF">2026-05-19T02:03:09Z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B25DFE0D801B499E96B6BCB46A587758_13</vt:lpwstr>
  </property>
  <property fmtid="{D5CDD505-2E9C-101B-9397-08002B2CF9AE}" pid="3" name="KSOProductBuildVer">
    <vt:lpwstr>2052-12.1.0.25865</vt:lpwstr>
  </property>
</Properties>
</file>